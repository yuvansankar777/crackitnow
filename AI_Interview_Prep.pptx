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18519" y="5029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59" y="5029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822960"/>
            <a:ext cx="36576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  ·  AI · MACHINE LEARNING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AI Interview Preparation</a:t>
            </a:r>
            <a:endParaRPr sz="4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System</a:t>
            </a:r>
            <a:endParaRPr sz="4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1371600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0A2540"/>
                </a:solidFill>
                <a:latin typeface="Calibri"/>
              </a:rPr>
              <a:t>Using Retrieval-Augmented Generation, Vector Database &amp; LLM</a:t>
            </a:r>
            <a:endParaRPr sz="1800" b="0" i="1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10332720" cy="1554480"/>
          </a:xfrm>
          <a:prstGeom prst="rect">
            <a:avLst/>
          </a:prstGeom>
          <a:solidFill>
            <a:srgbClr val="F6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91440" cy="1554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43484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0A2540"/>
                </a:solidFill>
                <a:latin typeface="Calibri"/>
              </a:rPr>
              <a:t>TEAM MEMBERS</a:t>
            </a:r>
            <a:endParaRPr sz="11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20" y="4983480"/>
            <a:ext cx="9144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846320"/>
            <a:ext cx="4709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Kabilan J</a:t>
            </a:r>
            <a:endParaRPr sz="1500" b="1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0" y="4983480"/>
            <a:ext cx="9144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846320"/>
            <a:ext cx="4709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Vikash N</a:t>
            </a:r>
            <a:endParaRPr sz="1500" b="1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88720" y="5486400"/>
            <a:ext cx="9144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5349240"/>
            <a:ext cx="4709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Santhosh Kumar S</a:t>
            </a:r>
            <a:endParaRPr sz="1500" b="1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0" y="5486400"/>
            <a:ext cx="9144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349240"/>
            <a:ext cx="4709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Yuvan Sankar NKR</a:t>
            </a:r>
            <a:endParaRPr sz="1500" b="1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6126480"/>
            <a:ext cx="1033272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236208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0A2540"/>
                </a:solidFill>
                <a:latin typeface="Calibri"/>
              </a:rPr>
              <a:t>Department of Computer And Communication Engineering · 2026</a:t>
            </a:r>
            <a:endParaRPr sz="1100" b="1" i="0">
              <a:solidFill>
                <a:srgbClr val="0A254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01</a:t>
            </a:r>
            <a:endParaRPr sz="13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SECTION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200" b="1" i="0">
                <a:solidFill>
                  <a:srgbClr val="0A2540"/>
                </a:solidFill>
                <a:latin typeface="Calibri"/>
              </a:rPr>
              <a:t>Project Overview</a:t>
            </a:r>
            <a:endParaRPr sz="4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Introduction · Problem · Objectives</a:t>
            </a:r>
            <a:endParaRPr sz="1600" b="0" i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22860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INTRODUCTION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case for an intelligent, adaptive interview platform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▸  Technical interviews are the single biggest filter in tech recruitment.</a:t>
            </a:r>
            <a:endParaRPr sz="18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▸  Most candidates rehearse with static question banks — passive, one-way practice.</a:t>
            </a:r>
            <a:endParaRPr sz="18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▸  Existing platforms grade the final answer, not the candidate's reasoning.</a:t>
            </a:r>
            <a:endParaRPr sz="18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▸  Generic question lists ignore the role, level, and company being targeted.</a:t>
            </a:r>
            <a:endParaRPr sz="18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▸  There is no affordable system that simulates a real, interactive interview.</a:t>
            </a:r>
            <a:endParaRPr sz="18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solidFill>
            <a:srgbClr val="F6F8FA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0A2540"/>
                </a:solidFill>
                <a:latin typeface="Calibri"/>
              </a:rPr>
              <a:t>We need an intelligent, adaptive, and conversational interview system.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PROBLEM STATEMENT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Five concrete gaps in today's prep tools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No personalization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Question banks are one-size-fits-all — no tailoring to role or skill level.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No real-time feedback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Candidates discover their gaps only after the real interview, not during practice.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53512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53512"/>
            <a:ext cx="73152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06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Static question pool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345643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Hard-coded question lists go stale; no dynamic generation.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2953512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53512"/>
            <a:ext cx="73152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906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Keyword-only search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Lookups match exact words, not meaning — relevant questions are missed.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078224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78224"/>
            <a:ext cx="73152" cy="9601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15384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No interview simulation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4581144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Reading questions ≠ defending an answer. The conversation loop is missing.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OBJECTIVES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the system must achieve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Adaptive interview engine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0480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Generate questions that adjust to role, level, and prior answers.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8160" y="1828800"/>
            <a:ext cx="3505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6760" y="20116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2560" y="2057400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Semantic retrieval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2480" y="2697480"/>
            <a:ext cx="30480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Use embeddings + vector search to fetch contextually similar questions.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7680" y="1828800"/>
            <a:ext cx="3505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6280" y="20116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2080" y="2057400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Real-time feedback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0" y="2697480"/>
            <a:ext cx="30480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Score every answer and explain why, not just pass / fail.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Conversational simulation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493776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Mimic a real interviewer: probe, follow up, recalibrate.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0" y="425196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Improved candidate confidence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4892040"/>
            <a:ext cx="493776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Make practice deliberate, measurable, and repeatable.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02</a:t>
            </a:r>
            <a:endParaRPr sz="13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SECTION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200" b="1" i="0">
                <a:solidFill>
                  <a:srgbClr val="0A2540"/>
                </a:solidFill>
                <a:latin typeface="Calibri"/>
              </a:rPr>
              <a:t>Proposed System</a:t>
            </a:r>
            <a:endParaRPr sz="4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Solution · Overview · Architecture</a:t>
            </a:r>
            <a:endParaRPr sz="1600" b="0" i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22860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PROPOSED SOLUTION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A RAG-based AI interview platform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Build the system around the Retrieval-Augmented Generation pattern.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Store the question / answer corpus as embeddings in a vector database.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Use a cross-encoder reranker to refine the top-K candidates before the model.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Hand the reranked context to an LLM that generates questions, evaluations, and follow-ups.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Wrap the whole pipeline in a FastAPI service for an interactive client experience.</a:t>
            </a:r>
            <a:endParaRPr sz="17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F6F8FA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Why RAG?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LLMs alone can hallucinate. RAG grounds every response in our curated question bank — accurate, traceable, updatable.</a:t>
            </a:r>
            <a:endParaRPr sz="13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SYSTEM OVERVIEW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High-level interaction in four steps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286000"/>
            <a:ext cx="640080" cy="6400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0A2540"/>
                </a:solidFill>
                <a:latin typeface="Calibri"/>
              </a:rPr>
              <a:t>Candidate starts an interview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01168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User picks a role / topic and opens the session.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286000"/>
            <a:ext cx="640080" cy="6400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0A2540"/>
                </a:solidFill>
                <a:latin typeface="Calibri"/>
              </a:rPr>
              <a:t>Retrieve relevant questions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657600"/>
            <a:ext cx="201168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Query embedded → vector DB returns top-K candidates.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2286000"/>
            <a:ext cx="640080" cy="6400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0A2540"/>
                </a:solidFill>
                <a:latin typeface="Calibri"/>
              </a:rPr>
              <a:t>AI generates and evaluates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01168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LLM crafts the question, reads the answer, scores it.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2560" y="2011680"/>
            <a:ext cx="2560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2286000"/>
            <a:ext cx="640080" cy="6400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0A2540"/>
                </a:solidFill>
                <a:latin typeface="Calibri"/>
              </a:rPr>
              <a:t>Adapt and continue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0" y="3657600"/>
            <a:ext cx="201168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Difficulty rises or falls based on performance.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SYSTEM ARCHITECTURE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End-to-end pipeline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1451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451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2891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User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2891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Web UI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058772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 rot="1800000">
            <a:off x="2150211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3363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3363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4803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FastAPI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14803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Backend API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640684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Triangle 17"/>
          <p:cNvSpPr/>
          <p:nvPr/>
        </p:nvSpPr>
        <p:spPr>
          <a:xfrm rot="1800000">
            <a:off x="3732123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05275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05275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6715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Embedding Model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96715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Sentence Transformers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22596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1800000">
            <a:off x="5314035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7187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87187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8627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Vector DB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78627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Semantic store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804508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Triangle 29"/>
          <p:cNvSpPr/>
          <p:nvPr/>
        </p:nvSpPr>
        <p:spPr>
          <a:xfrm rot="1800000">
            <a:off x="6895947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9099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69099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0539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Reranker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60539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Cross encoder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8386420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Triangle 35"/>
          <p:cNvSpPr/>
          <p:nvPr/>
        </p:nvSpPr>
        <p:spPr>
          <a:xfrm rot="1800000">
            <a:off x="8477859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51011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51011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2451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LLM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42451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GPT / Mistral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968332" y="3383280"/>
            <a:ext cx="164592" cy="0"/>
          </a:xfrm>
          <a:prstGeom prst="line">
            <a:avLst/>
          </a:prstGeom>
          <a:ln w="1905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ight Triangle 41"/>
          <p:cNvSpPr/>
          <p:nvPr/>
        </p:nvSpPr>
        <p:spPr>
          <a:xfrm rot="1800000">
            <a:off x="10059771" y="3337560"/>
            <a:ext cx="91440" cy="91440"/>
          </a:xfrm>
          <a:prstGeom prst="rtTriangl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32923" y="2743200"/>
            <a:ext cx="1417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32923" y="2743200"/>
            <a:ext cx="1417320" cy="91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4363" y="3017520"/>
            <a:ext cx="12344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Response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224363" y="3520440"/>
            <a:ext cx="1234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Question + score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 i="1">
                <a:solidFill>
                  <a:srgbClr val="374151"/>
                </a:solidFill>
                <a:latin typeface="Calibri"/>
              </a:rPr>
              <a:t>Each request flows through retrieval → reranking → generation, never directly to the LLM.</a:t>
            </a:r>
            <a:endParaRPr sz="1300" b="0" i="1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Adapt loop — response score feeds back into the next retrieval query.</a:t>
            </a:r>
            <a:endParaRPr sz="12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ARCHITECTURE EXPLAINED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Responsibilities of each component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1920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Embedding Model</a:t>
            </a:r>
            <a:endParaRPr sz="15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463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Converts questions and queries into dense vectors so meaning becomes a coordinate.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920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Vector Database</a:t>
            </a:r>
            <a:endParaRPr sz="15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8463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Stores embeddings and returns the top-K nearest neighbours for any new query.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13632"/>
            <a:ext cx="91440" cy="1920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87952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Reranker (Cross Encoder)</a:t>
            </a:r>
            <a:endParaRPr sz="15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8463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Re-scores the top-K with a heavier model, lifting the truly relevant items to the top.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3913632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13632"/>
            <a:ext cx="91440" cy="1920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87952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0A2540"/>
                </a:solidFill>
                <a:latin typeface="Calibri"/>
              </a:rPr>
              <a:t>Large Language Model</a:t>
            </a:r>
            <a:endParaRPr sz="15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4690872"/>
            <a:ext cx="48463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Reads the reranked context and produces the next question, evaluation, and follow-up.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03</a:t>
            </a:r>
            <a:endParaRPr sz="13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SECTION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200" b="1" i="0">
                <a:solidFill>
                  <a:srgbClr val="0A2540"/>
                </a:solidFill>
                <a:latin typeface="Calibri"/>
              </a:rPr>
              <a:t>Implementation</a:t>
            </a:r>
            <a:endParaRPr sz="4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Stack · Dataset · Methodology</a:t>
            </a:r>
            <a:endParaRPr sz="1600" b="0" i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22860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TECHNOLOGIES USED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stack at a glance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5603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FastAPI (REST API)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Uvicorn (ASGI server)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Python 3.11+</a:t>
            </a:r>
            <a:endParaRPr sz="12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560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5603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01952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Models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Sentence Transformers (embeddings)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Cross Encoder (reranker)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LLM — GPT / Mistral / Llama</a:t>
            </a:r>
            <a:endParaRPr sz="12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560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5603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Storage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Vector DB — Pinecone / Weaviate / Chroma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JSON corpus (1000+ questions)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Optional Postgres for users</a:t>
            </a:r>
            <a:endParaRPr sz="12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2560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5603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01952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Tooling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Hugging Face Hub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Requests (HTTP)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Pytest (testing)</a:t>
            </a:r>
            <a:endParaRPr sz="12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▸  Docker (deployment)</a:t>
            </a:r>
            <a:endParaRPr sz="12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FRAMEWORKS &amp; TOOLS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does what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064239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Tool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1901952"/>
            <a:ext cx="795527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39" cy="5029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FastAPI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249631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Async Python web framework — exposes the interview API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Sentence Transformers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80" y="299923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Generates 384-dim embeddings (e.g. all-MiniLM-L6-v2)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11064239" cy="5029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Cross Encoder (HF)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350215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Reranks retrieval candidates for higher precision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Vector DB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40480" y="400507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Indexes embeddings + does k-NN similarity search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11064239" cy="5029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0799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LLM API (OpenAI / local)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0" y="450799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Generates final questions, evaluations, follow-ups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Uvicorn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0" y="501091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ASGI server hosting the FastAPI app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11064239" cy="5029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1383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</a:rPr>
              <a:t>Hugging Face Hub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0480" y="5513832"/>
            <a:ext cx="79552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Source for embedding + reranker model weights</a:t>
            </a:r>
            <a:endParaRPr sz="12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DATASET DESCRIPTION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we feed the system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Corpus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 1,000+ curated interview questions</a:t>
            </a:r>
            <a:endParaRPr sz="13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 Categories — Technical, HR, Coding</a:t>
            </a:r>
            <a:endParaRPr sz="13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 Sourced from public banks + manually authored</a:t>
            </a:r>
            <a:endParaRPr sz="13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 Each entry: question, ideal answer, difficulty, topic</a:t>
            </a:r>
            <a:endParaRPr sz="13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▸  Stored as JSON; embedded once at ingestion time</a:t>
            </a:r>
            <a:endParaRPr sz="13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492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4924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0195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Per-question schema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onsolas"/>
              </a:rPr>
              <a:t>question</a:t>
            </a:r>
            <a:endParaRPr sz="1200" b="1" i="0">
              <a:solidFill>
                <a:srgbClr val="0A254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55279" y="260604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onsolas"/>
              </a:rPr>
              <a:t>str   — the prompt</a:t>
            </a:r>
            <a:endParaRPr sz="1200" b="0" i="0">
              <a:solidFill>
                <a:srgbClr val="374151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onsolas"/>
              </a:rPr>
              <a:t>answer</a:t>
            </a:r>
            <a:endParaRPr sz="1200" b="1" i="0">
              <a:solidFill>
                <a:srgbClr val="0A254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55279" y="310896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onsolas"/>
              </a:rPr>
              <a:t>str   — reference answer</a:t>
            </a:r>
            <a:endParaRPr sz="1200" b="0" i="0">
              <a:solidFill>
                <a:srgbClr val="374151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onsolas"/>
              </a:rPr>
              <a:t>difficulty</a:t>
            </a:r>
            <a:endParaRPr sz="1200" b="1" i="0">
              <a:solidFill>
                <a:srgbClr val="0A2540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79" y="36118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onsolas"/>
              </a:rPr>
              <a:t>enum  — easy / medium / hard</a:t>
            </a:r>
            <a:endParaRPr sz="1200" b="0" i="0">
              <a:solidFill>
                <a:srgbClr val="374151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onsolas"/>
              </a:rPr>
              <a:t>topic</a:t>
            </a:r>
            <a:endParaRPr sz="1200" b="1" i="0">
              <a:solidFill>
                <a:srgbClr val="0A2540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41148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onsolas"/>
              </a:rPr>
              <a:t>str   — DSA, OS, DBMS, HR ...</a:t>
            </a:r>
            <a:endParaRPr sz="1200" b="0" i="0">
              <a:solidFill>
                <a:srgbClr val="374151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0A2540"/>
                </a:solidFill>
                <a:latin typeface="Consolas"/>
              </a:rPr>
              <a:t>category</a:t>
            </a:r>
            <a:endParaRPr sz="1200" b="1" i="0">
              <a:solidFill>
                <a:srgbClr val="0A2540"/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79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onsolas"/>
              </a:rPr>
              <a:t>enum  — technical / hr / coding</a:t>
            </a:r>
            <a:endParaRPr sz="1200" b="0" i="0">
              <a:solidFill>
                <a:srgbClr val="374151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METHODOLOGY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From raw text to ranked response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1214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Data collection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Aggregate Q/A from public banks and curated authoring.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8160" y="18288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2480" y="21031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2560" y="21214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Embedding generation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2480" y="27432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Encode every question with a sentence-transformer.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7680" y="18288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2000" y="21031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2080" y="21214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Vector indexing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0" y="27432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Persist embeddings + metadata in a vector DB.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63040" y="41788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Query processing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Embed the user's input the same way for fair comparison.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8160" y="3886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41605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42560" y="41788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Reranking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2480" y="48006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Cross-encode the top-K results to lift the most relevant.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07680" y="3886200"/>
            <a:ext cx="3505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82000" y="416052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22080" y="4178808"/>
            <a:ext cx="2407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Response generation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0" y="4800600"/>
            <a:ext cx="29565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Pass reranked context to the LLM for a final, grounded answer.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WORKING FLOW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happens on every interview turn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User submits an answer or asks for the next question.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80160" y="246888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Backend embeds the input with the sentence transformer.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80160" y="310896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Vector DB returns top-K semantically similar items.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80160" y="374904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38862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Cross-encoder reranks them by deeper relevance.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80160" y="438912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LLM receives reranked context and produces the next question or evaluation.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80160" y="502920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120640"/>
            <a:ext cx="411480" cy="4114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Calibri"/>
              </a:rPr>
              <a:t>Response is shown; difficulty is adjusted for the next turn.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04</a:t>
            </a:r>
            <a:endParaRPr sz="13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SECTION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200" b="1" i="0">
                <a:solidFill>
                  <a:srgbClr val="0A2540"/>
                </a:solidFill>
                <a:latin typeface="Calibri"/>
              </a:rPr>
              <a:t>Outcomes</a:t>
            </a:r>
            <a:endParaRPr sz="4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Features · Advantages · Roadmap</a:t>
            </a:r>
            <a:endParaRPr sz="1600" b="0" i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22860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17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KEY FEATURES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the user actually experiences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Adaptive interview engine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Difficulty calibrated to each candidate.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816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82880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Real-time evaluation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248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Score and feedback returned for every answer.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768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82880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Semantic question retrieval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Finds questions by meaning, not keywords.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Reranked top-K precision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Cross-encoder filters out near-duplicates.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816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8160" y="379476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Multi-category coverage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248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Technical, HR, and coding in one platform.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0768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7680" y="3794760"/>
            <a:ext cx="73152" cy="1783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RAG-grounded answers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Hallucinations minimised by retrieval context.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18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ADVANTAGES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Why this beats traditional prep tools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Improves interview performance through deliberate, scored practice.</a:t>
            </a:r>
            <a:endParaRPr sz="16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Provides instant evaluation — no waiting for a mentor or a real interview.</a:t>
            </a:r>
            <a:endParaRPr sz="16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Scales to any number of users; the architecture is stateless per request.</a:t>
            </a:r>
            <a:endParaRPr sz="16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Higher answer accuracy thanks to reranking before LLM generation.</a:t>
            </a:r>
            <a:endParaRPr sz="16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Modular: swap the embedder, reranker, or LLM without touching the API surface.</a:t>
            </a:r>
            <a:endParaRPr sz="16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▸  Data-driven: every interaction is logged and replayable for analytics.</a:t>
            </a:r>
            <a:endParaRPr sz="16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19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LIMITATIONS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Honest tradeoffs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Internet dependency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8463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Hosted LLMs and vector DBs require a stable connection.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LLM quality ceiling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8463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Output quality is bounded by the underlying model.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API costs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48463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Hosted LLMs (e.g. GPT-4) charge per token — adds up at scale.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Cold-start latency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48463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First query after a long idle period is slower (model load).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Bias inheritance</a:t>
            </a:r>
            <a:endParaRPr sz="14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48463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Embedder and LLM may carry biases from their training data.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20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FUTURE ENHANCEMENTS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Where this can go next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Voice-based interviews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Speech-to-text for input, TTS for the AI interviewer.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816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160" y="182880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Resume-driven questions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248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Upload CV → AI tailors questions to listed skills / projects.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7680" y="182880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82880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205740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Advanced scoring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0" y="260604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Rubric-based grading: communication, depth, correctness.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Multi-language support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Localise the question bank and the LLM prompts.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816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8160" y="379476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Analytics dashboard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248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Track accuracy, weak topics, and progress over time.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07680" y="3794760"/>
            <a:ext cx="3505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7680" y="379476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4023360"/>
            <a:ext cx="3048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Live coding sandbox</a:t>
            </a:r>
            <a:endParaRPr sz="13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0" y="4572000"/>
            <a:ext cx="304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Embed an IDE for code questions with sandboxed execution.</a:t>
            </a:r>
            <a:endParaRPr sz="11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21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05</a:t>
            </a:r>
            <a:endParaRPr sz="13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SECTION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200" b="1" i="0">
                <a:solidFill>
                  <a:srgbClr val="0A2540"/>
                </a:solidFill>
                <a:latin typeface="Calibri"/>
              </a:rPr>
              <a:t>Closing</a:t>
            </a:r>
            <a:endParaRPr sz="4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49039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Conclusion · References · Q&amp;A</a:t>
            </a:r>
            <a:endParaRPr sz="1600" b="0" i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22860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22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CONCLUSION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we built and why it matters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Designed and implemented a RAG-based AI interview preparation platform.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Combined a vector database, cross-encoder reranker, and an LLM into one pipeline.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Delivered semantically accurate retrieval and grounded, real-time evaluation.</a:t>
            </a:r>
            <a:endParaRPr sz="17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▸  Created a modular foundation — easy to extend with voice, analytics, or new models.</a:t>
            </a:r>
            <a:endParaRPr sz="17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OUTCOME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4241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Candidates get personalised, interactive practice that mirrors a real interview.</a:t>
            </a:r>
            <a:endParaRPr sz="14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23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REFERENCES</a:t>
            </a:r>
            <a:endParaRPr sz="1100" b="1" i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Key sources we relied on</a:t>
            </a:r>
            <a:endParaRPr sz="30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Lewis et al. — Retrieval-Augmented Generation for Knowledge-Intensive NLP Tasks (2020).</a:t>
            </a:r>
            <a:endParaRPr sz="14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Reimers &amp; Gurevych — Sentence-BERT: Sentence Embeddings using Siamese Networks (EMNLP 2019).</a:t>
            </a:r>
            <a:endParaRPr sz="14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Hugging Face — Sentence Transformers documentation (sbert.net).</a:t>
            </a:r>
            <a:endParaRPr sz="14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FastAPI — Official documentation (fastapi.tiangolo.com).</a:t>
            </a:r>
            <a:endParaRPr sz="14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Pinecone / Weaviate / Chroma — Vector database concepts and engineering blogs.</a:t>
            </a:r>
            <a:endParaRPr sz="1400">
              <a:solidFill>
                <a:srgbClr val="111827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▸  OpenAI / Mistral — Model and API documentation.</a:t>
            </a:r>
            <a:endParaRPr sz="140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AI Interview Preparation System  ·  RAG + Vector DB + LLM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24 / 25</a:t>
            </a:r>
            <a:endParaRPr sz="9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Thank You</a:t>
            </a:r>
            <a:endParaRPr sz="8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Questions and discussion welcomed.</a:t>
            </a:r>
            <a:endParaRPr sz="1800" b="0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</a:rPr>
              <a:t>TEAM MEMBERS</a:t>
            </a:r>
            <a:endParaRPr sz="1200" b="1" i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4526280"/>
            <a:ext cx="210312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0" i="0">
                <a:solidFill>
                  <a:srgbClr val="111827"/>
                </a:solidFill>
                <a:latin typeface="Calibri"/>
              </a:rPr>
              <a:t>Kabilan J  ·  Vikash N  ·  Santhosh Kumar S  ·  Yuvan Sankar NKR</a:t>
            </a:r>
            <a:endParaRPr sz="1500" b="0" i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Department of Computer And Communication Engineering · 2026</a:t>
            </a:r>
            <a:endParaRPr sz="1100" b="0" i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10332</Words>
  <Application>WPS Presentation</Application>
  <PresentationFormat>On-screen Show (4:3)</PresentationFormat>
  <Paragraphs>612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Consolas</vt:lpstr>
      <vt:lpstr>宋体-简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Yuvan</cp:lastModifiedBy>
  <cp:revision>2</cp:revision>
  <dcterms:created xsi:type="dcterms:W3CDTF">2026-04-25T11:54:00Z</dcterms:created>
  <dcterms:modified xsi:type="dcterms:W3CDTF">2026-04-25T11:54:00Z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F2D938DE28DC944958ABEC6901733EF6_42</vt:lpwstr>
  </property>
  <property fmtid="{D5CDD505-2E9C-101B-9397-08002B2CF9AE}" pid="3" name="KSOProductBuildVer">
    <vt:lpwstr>1033-6.10.1.8197</vt:lpwstr>
  </property>
</Properties>
</file>